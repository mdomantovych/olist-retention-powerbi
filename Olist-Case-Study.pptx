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Retention %</c:v>
                </c:pt>
              </c:strCache>
            </c:strRef>
          </c:tx>
          <c:spPr>
            <a:solidFill>
              <a:srgbClr val="0D8A7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31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M0</c:v>
                  </c:pt>
                  <c:pt idx="1">
                    <c:v>M1</c:v>
                  </c:pt>
                  <c:pt idx="2">
                    <c:v>M2</c:v>
                  </c:pt>
                  <c:pt idx="3">
                    <c:v>M3</c:v>
                  </c:pt>
                  <c:pt idx="4">
                    <c:v>M4</c:v>
                  </c:pt>
                  <c:pt idx="5">
                    <c:v>M5</c:v>
                  </c:pt>
                  <c:pt idx="6">
                    <c:v>M6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2.1</c:v>
                </c:pt>
                <c:pt idx="2">
                  <c:v>1.4</c:v>
                </c:pt>
                <c:pt idx="3">
                  <c:v>1</c:v>
                </c:pt>
                <c:pt idx="4">
                  <c:v>0.8</c:v>
                </c:pt>
                <c:pt idx="5">
                  <c:v>0.6</c:v>
                </c:pt>
                <c:pt idx="6">
                  <c:v>0.5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6231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7F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FA896"/>
            </a:solidFill>
            <a:effectLst/>
          </c:spPr>
          <c:invertIfNegative val="0"/>
          <c:dLbls>
            <c:numFmt formatCode="&quot;$&quot;0.00&quot;M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231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Lost</c:v>
                  </c:pt>
                  <c:pt idx="1">
                    <c:v>New / Promising</c:v>
                  </c:pt>
                  <c:pt idx="2">
                    <c:v>Loyal</c:v>
                  </c:pt>
                  <c:pt idx="3">
                    <c:v>Champions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9.07</c:v>
                </c:pt>
                <c:pt idx="1">
                  <c:v>3.39</c:v>
                </c:pt>
                <c:pt idx="2">
                  <c:v>0.5</c:v>
                </c:pt>
                <c:pt idx="3">
                  <c:v>0.23</c:v>
                </c:pt>
              </c:numCache>
            </c:numRef>
          </c:val>
        </c:ser>
        <c:dLbls>
          <c:numFmt formatCode="&quot;$&quot;0.00&quot;M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6231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6231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937760" cy="4937760"/>
          </a:xfrm>
          <a:prstGeom prst="ellipse">
            <a:avLst/>
          </a:prstGeom>
          <a:solidFill>
            <a:srgbClr val="0D8A7D">
              <a:alpha val="14000"/>
            </a:srgbClr>
          </a:solidFill>
          <a:ln w="12700">
            <a:solidFill>
              <a:srgbClr val="0FA896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3566160"/>
            <a:ext cx="2926080" cy="2926080"/>
          </a:xfrm>
          <a:prstGeom prst="ellipse">
            <a:avLst/>
          </a:prstGeom>
          <a:solidFill>
            <a:srgbClr val="E0AD2E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F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ПОРТФОЛІО-КЕЙС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371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Olist Marketplace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Аналіз утримання клієнтів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8328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9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 повертаються клієнти, скільки вони варті, і що вбиває повторні покупки — на реальних даних бразильського маркетплейсу (~99 тис. замовлень, 2016–2018).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937760"/>
            <a:ext cx="1421892" cy="420624"/>
          </a:xfrm>
          <a:prstGeom prst="roundRect">
            <a:avLst>
              <a:gd name="adj" fmla="val 50000"/>
            </a:avLst>
          </a:prstGeom>
          <a:solidFill>
            <a:srgbClr val="16241F"/>
          </a:solidFill>
          <a:ln w="12700">
            <a:solidFill>
              <a:srgbClr val="0FA896">
                <a:alpha val="45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937760"/>
            <a:ext cx="14218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446020" y="4937760"/>
            <a:ext cx="653796" cy="420624"/>
          </a:xfrm>
          <a:prstGeom prst="roundRect">
            <a:avLst>
              <a:gd name="adj" fmla="val 50000"/>
            </a:avLst>
          </a:prstGeom>
          <a:solidFill>
            <a:srgbClr val="16241F"/>
          </a:solidFill>
          <a:ln w="12700">
            <a:solidFill>
              <a:srgbClr val="0FA896">
                <a:alpha val="45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46020" y="4937760"/>
            <a:ext cx="6537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00984" y="4937760"/>
            <a:ext cx="1613916" cy="420624"/>
          </a:xfrm>
          <a:prstGeom prst="roundRect">
            <a:avLst>
              <a:gd name="adj" fmla="val 50000"/>
            </a:avLst>
          </a:prstGeom>
          <a:solidFill>
            <a:srgbClr val="16241F"/>
          </a:solidFill>
          <a:ln w="12700">
            <a:solidFill>
              <a:srgbClr val="0FA896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00984" y="4937760"/>
            <a:ext cx="16139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Зіркова схема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116068" y="4937760"/>
            <a:ext cx="1613916" cy="420624"/>
          </a:xfrm>
          <a:prstGeom prst="roundRect">
            <a:avLst>
              <a:gd name="adj" fmla="val 50000"/>
            </a:avLst>
          </a:prstGeom>
          <a:solidFill>
            <a:srgbClr val="16241F"/>
          </a:solidFill>
          <a:ln w="12700">
            <a:solidFill>
              <a:srgbClr val="0FA896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16068" y="4937760"/>
            <a:ext cx="16139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Когорти · RFM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931152" y="4937760"/>
            <a:ext cx="1613916" cy="420624"/>
          </a:xfrm>
          <a:prstGeom prst="roundRect">
            <a:avLst>
              <a:gd name="adj" fmla="val 50000"/>
            </a:avLst>
          </a:prstGeom>
          <a:solidFill>
            <a:srgbClr val="16241F"/>
          </a:solidFill>
          <a:ln w="12700">
            <a:solidFill>
              <a:srgbClr val="0FA896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31152" y="4937760"/>
            <a:ext cx="16139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A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· RLS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Дані: Brazilian E-Commerce Public Dataset by Olist (Kaggle)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2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Питання бізнесу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 відповідає на рішеннєві питання growth / CRM-команди — не «скільки продали», а «що робити».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BE3DF"/>
            </a:solidFill>
            <a:prstDash val="solid"/>
          </a:ln>
          <a:effectLst>
            <a:outerShdw sx="100000" sy="100000" kx="0" ky="0" algn="bl" rotWithShape="0" blurRad="127000" dist="38100" dir="5400000">
              <a:srgbClr val="0A1512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377440"/>
            <a:ext cx="777240" cy="777240"/>
          </a:xfrm>
          <a:prstGeom prst="ellipse">
            <a:avLst/>
          </a:prstGeom>
          <a:solidFill>
            <a:srgbClr val="0D8A7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377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23774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Звідки зростання?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28346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E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Виручка росте за рахунок нових клієнтів чи повторних?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205740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BE3DF"/>
            </a:solidFill>
            <a:prstDash val="solid"/>
          </a:ln>
          <a:effectLst>
            <a:outerShdw sx="100000" sy="100000" kx="0" ky="0" algn="bl" rotWithShape="0" blurRad="127000" dist="38100" dir="5400000">
              <a:srgbClr val="0A1512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377440"/>
            <a:ext cx="777240" cy="777240"/>
          </a:xfrm>
          <a:prstGeom prst="ellipse">
            <a:avLst/>
          </a:prstGeom>
          <a:solidFill>
            <a:srgbClr val="0D8A7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23774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23774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Чи утримуємо?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7543800" y="28346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E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швидко падає утримання по когортах після першої покупки?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20624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BE3DF"/>
            </a:solidFill>
            <a:prstDash val="solid"/>
          </a:ln>
          <a:effectLst>
            <a:outerShdw sx="100000" sy="100000" kx="0" ky="0" algn="bl" rotWithShape="0" blurRad="127000" dist="38100" dir="5400000">
              <a:srgbClr val="0A1512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526280"/>
            <a:ext cx="777240" cy="777240"/>
          </a:xfrm>
          <a:prstGeom prst="ellipse">
            <a:avLst/>
          </a:prstGeom>
          <a:solidFill>
            <a:srgbClr val="0D8A7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4526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4526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Кого рятувати?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920240" y="49834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E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Які RFM-сегменти приносять гроші й куди спрямувати CRM-бюджет?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63640" y="420624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BE3DF"/>
            </a:solidFill>
            <a:prstDash val="solid"/>
          </a:ln>
          <a:effectLst>
            <a:outerShdw sx="100000" sy="100000" kx="0" ky="0" algn="bl" rotWithShape="0" blurRad="127000" dist="38100" dir="5400000">
              <a:srgbClr val="0A1512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4526280"/>
            <a:ext cx="777240" cy="777240"/>
          </a:xfrm>
          <a:prstGeom prst="ellipse">
            <a:avLst/>
          </a:prstGeom>
          <a:solidFill>
            <a:srgbClr val="0D8A7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45262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543800" y="4526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псує retention?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7543800" y="49834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E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 вбиває пізня доставка рейтинг і повторні покупки?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каже дані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Маркетплейс чудово ЗАЛУЧАЄ, але майже не ПОВЕРТАЄ клієнтів.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16241F"/>
          </a:solidFill>
          <a:ln w="12700">
            <a:solidFill>
              <a:srgbClr val="2435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3317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6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32278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клієнтів купують лише раз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16241F"/>
          </a:solidFill>
          <a:ln w="12700">
            <a:solidFill>
              <a:srgbClr val="2435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9400" y="23317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A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32278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repeat rate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16241F"/>
          </a:solidFill>
          <a:ln w="12700">
            <a:solidFill>
              <a:srgbClr val="2435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44805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$13.6M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53766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загальна виручка (GMV)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63640" y="411480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16241F"/>
          </a:solidFill>
          <a:ln w="12700">
            <a:solidFill>
              <a:srgbClr val="2435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29400" y="448056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6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4.2★ → 2.6★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6647688" y="53766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9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рейтинг: вчасно vs пізня доставка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 даних — зіркова схема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17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АРХІТЕКТУРА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55778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6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 OrderItems (price, freight) → Orders</a:t>
            </a:r>
            <a:endParaRPr lang="en-US" sz="145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6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Виміри: Customers, Products, Sellers, DimDate, Reviews</a:t>
            </a:r>
            <a:endParaRPr lang="en-US" sz="145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6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Role-playing DimDate: активний по purchase; неактивні по delivered / estimated (USERELATIONSHIP)</a:t>
            </a:r>
            <a:endParaRPr lang="en-US" sz="145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6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Зв'язки *:1, напрямок single (без bi-directional)</a:t>
            </a:r>
            <a:endParaRPr lang="en-US" sz="145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62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Окрема таблиця _Measures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583680" y="1737360"/>
            <a:ext cx="4937760" cy="4206240"/>
          </a:xfrm>
          <a:prstGeom prst="roundRect">
            <a:avLst>
              <a:gd name="adj" fmla="val 2174"/>
            </a:avLst>
          </a:prstGeom>
          <a:solidFill>
            <a:srgbClr val="FDF6EC"/>
          </a:solidFill>
          <a:ln w="12700">
            <a:solidFill>
              <a:srgbClr val="E0AD2E"/>
            </a:solidFill>
            <a:prstDash val="solid"/>
          </a:ln>
          <a:effectLst>
            <a:outerShdw sx="100000" sy="100000" kx="0" ky="0" algn="bl" rotWithShape="0" blurRad="127000" dist="38100" dir="5400000">
              <a:srgbClr val="0A1512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903720" y="20116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Нюанси даних Olist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903720" y="2606040"/>
            <a:ext cx="4343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— на рівні транзакції; retention/RFM через customer_unique_id (ALLEXCEPT)</a:t>
            </a:r>
            <a:endParaRPr lang="en-US" sz="13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Тільки order_status = delivered; вікно Jan 2017 – Aug 2018</a:t>
            </a:r>
            <a:endParaRPr lang="en-US" sz="13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Grain: клієнти = DISTINCTCOUNT, виручка = SUM(price)</a:t>
            </a:r>
            <a:endParaRPr lang="en-US" sz="1300" dirty="0"/>
          </a:p>
          <a:p>
            <a:pPr marL="203200" indent="-2032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5A4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 дат має бути типу Date, не DateTime — час ламає зв'язок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Утримання обвалюється після першої покупки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Когортний аналіз: % клієнтів, активних через N місяців після першого замовлення.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6583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2103120"/>
            <a:ext cx="39776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BE3DF"/>
            </a:solidFill>
            <a:prstDash val="solid"/>
          </a:ln>
          <a:effectLst>
            <a:outerShdw sx="100000" sy="100000" kx="0" ky="0" algn="bl" rotWithShape="0" blurRad="127000" dist="38100" dir="5400000">
              <a:srgbClr val="0A1512">
                <a:alpha val="2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818120" y="2331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ІНСАЙТ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818120" y="26974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M0 = 100%, а вже M1 — одиниці відсотка.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361188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E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Компанія тримається на постійному притоку нових клієнтів, а не на утриманні. Це головний ризик і фокус аналізу.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Цінність клієнтів — RFM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Виручка по сегментах ($M). Champions/Loyal — крихітні, але з найвищою цінністю на клієнта.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920240"/>
          <a:ext cx="67665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680960" y="1965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СЕГМЕНТ / КЛІЄНТИ / AOV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680960" y="242316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BE3D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0" y="25328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Champions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836 клієнтів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966960" y="242316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D8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$128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680960" y="333756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BE3D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63840" y="34472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3749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1 953 клієнтів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966960" y="333756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D8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$121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680960" y="425196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BE3D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863840" y="43616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New/Promising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863840" y="4663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27 171 клієнтів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9966960" y="425196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D8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$140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680960" y="516636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BE3D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863840" y="52760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Lost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863840" y="5577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66 136 клієнтів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966960" y="516636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D8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$137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Пізня доставка — важіль retention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Логістика — не лише операційна метрика: вона напряму впливає на рейтинг і повернення.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788920" cy="2194560"/>
          </a:xfrm>
          <a:prstGeom prst="roundRect">
            <a:avLst>
              <a:gd name="adj" fmla="val 4167"/>
            </a:avLst>
          </a:prstGeom>
          <a:solidFill>
            <a:srgbClr val="F0F7F4"/>
          </a:solidFill>
          <a:ln w="12700">
            <a:solidFill>
              <a:srgbClr val="0D8A7D"/>
            </a:solidFill>
            <a:prstDash val="solid"/>
          </a:ln>
          <a:effectLst>
            <a:outerShdw sx="100000" sy="100000" kx="0" ky="0" algn="bl" rotWithShape="0" blurRad="127000" dist="38100" dir="5400000">
              <a:srgbClr val="0A1512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Вчасно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D8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4.21★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3703320" y="2011680"/>
            <a:ext cx="2788920" cy="2194560"/>
          </a:xfrm>
          <a:prstGeom prst="roundRect">
            <a:avLst>
              <a:gd name="adj" fmla="val 4167"/>
            </a:avLst>
          </a:prstGeom>
          <a:solidFill>
            <a:srgbClr val="FBEDE9"/>
          </a:solidFill>
          <a:ln w="12700">
            <a:solidFill>
              <a:srgbClr val="E0684B"/>
            </a:solidFill>
            <a:prstDash val="solid"/>
          </a:ln>
          <a:effectLst>
            <a:outerShdw sx="100000" sy="100000" kx="0" ky="0" algn="bl" rotWithShape="0" blurRad="127000" dist="38100" dir="5400000">
              <a:srgbClr val="0A1512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93192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Із запізненням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886200" y="269748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06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2.57★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34340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6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~вдвічі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0" y="2011680"/>
            <a:ext cx="4663440" cy="3566160"/>
          </a:xfrm>
          <a:prstGeom prst="roundRect">
            <a:avLst>
              <a:gd name="adj" fmla="val 2564"/>
            </a:avLst>
          </a:prstGeom>
          <a:solidFill>
            <a:srgbClr val="0E1A17"/>
          </a:solidFill>
          <a:ln/>
          <a:effectLst>
            <a:outerShdw sx="100000" sy="100000" kx="0" ky="0" algn="bl" rotWithShape="0" blurRad="127000" dist="38100" dir="5400000">
              <a:srgbClr val="0A1512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13232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💰 Бізнес-імпакт (what-if)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83464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 п.п.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3657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repeat rate (3% → 4%)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4160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+$135K виручки / рік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47548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9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~960 повторних клієнтів × AOV $141 · інтерактивний повзунок у звіті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2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Рекомендації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D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Бізнес наймає за рішення, а не за графіки.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BE3DF"/>
            </a:solidFill>
            <a:prstDash val="solid"/>
          </a:ln>
          <a:effectLst>
            <a:outerShdw sx="100000" sy="100000" kx="0" ky="0" algn="bl" rotWithShape="0" blurRad="127000" dist="38100" dir="5400000">
              <a:srgbClr val="0A1512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86000"/>
            <a:ext cx="685800" cy="685800"/>
          </a:xfrm>
          <a:prstGeom prst="ellipse">
            <a:avLst/>
          </a:prstGeom>
          <a:solidFill>
            <a:srgbClr val="0D8A7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86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Логістика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176272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E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Скоротити частку запізнень у проблемних штатах (SE, RO, TO) — прямий важіль рейтингу й повернення.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235440" y="219456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8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+$135K/рік при +1 п.п. retention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42900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BE3DF"/>
            </a:solidFill>
            <a:prstDash val="solid"/>
          </a:ln>
          <a:effectLst>
            <a:outerShdw sx="100000" sy="100000" kx="0" ky="0" algn="bl" rotWithShape="0" blurRad="127000" dist="38100" dir="5400000">
              <a:srgbClr val="0A1512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703320"/>
            <a:ext cx="685800" cy="685800"/>
          </a:xfrm>
          <a:prstGeom prst="ellipse">
            <a:avLst/>
          </a:prstGeom>
          <a:solidFill>
            <a:srgbClr val="0D8A7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3703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828800" y="3611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CRM-фокус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593592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E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Реанімувати «New / Promising» (щойно купили) win-back кампаніями, поки не стали «Lost».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36118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8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27k клієнтів у зоні дії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BE3DF"/>
            </a:solidFill>
            <a:prstDash val="solid"/>
          </a:ln>
          <a:effectLst>
            <a:outerShdw sx="100000" sy="100000" kx="0" ky="0" algn="bl" rotWithShape="0" blurRad="127000" dist="38100" dir="5400000">
              <a:srgbClr val="0A1512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5120640"/>
            <a:ext cx="685800" cy="685800"/>
          </a:xfrm>
          <a:prstGeom prst="ellipse">
            <a:avLst/>
          </a:prstGeom>
          <a:solidFill>
            <a:srgbClr val="0D8A7D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5120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828800" y="5029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Утримання VIP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5010912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E7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Берегти Champions / Loyal — мала група з непропорційно високою цінністю на клієнта.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235440" y="50292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8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найвищий LTV на клієнта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Інженерія та методологія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&amp; ITERATIONS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5577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EA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order-level → рахунок через customer_unique_id</a:t>
            </a:r>
            <a:endParaRPr lang="en-US" sz="13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EA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 у ключі дат → тип Date для коректного зв'язку</a:t>
            </a:r>
            <a:endParaRPr lang="en-US" sz="13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EA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Напрямок фільтра → перенос ключа у факт (RELATED)</a:t>
            </a:r>
            <a:endParaRPr lang="en-US" sz="13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EA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Late як текст → бінарний прапорець (Power Query)</a:t>
            </a:r>
            <a:endParaRPr lang="en-US" sz="13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EA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index → calc-колонка Months Since First</a:t>
            </a:r>
            <a:endParaRPr lang="en-US" sz="1300" dirty="0"/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EA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 (рос. місяці, ₽) → FORMAT en-US + явний $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92240" y="1737360"/>
            <a:ext cx="5029200" cy="3657600"/>
          </a:xfrm>
          <a:prstGeom prst="roundRect">
            <a:avLst>
              <a:gd name="adj" fmla="val 2500"/>
            </a:avLst>
          </a:prstGeom>
          <a:solidFill>
            <a:srgbClr val="16241F"/>
          </a:solidFill>
          <a:ln w="12700">
            <a:solidFill>
              <a:srgbClr val="2435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12280" y="19659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ROADMAP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12280" y="2423160"/>
            <a:ext cx="44348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— роль регіонального менеджера (customer_state)</a:t>
            </a:r>
            <a:endParaRPr lang="en-US" sz="130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refresh — політика за датою на факті</a:t>
            </a:r>
            <a:endParaRPr lang="en-US" sz="130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— DAX Studio / VertiPaq Analyzer</a:t>
            </a:r>
            <a:endParaRPr lang="en-US" sz="1300" dirty="0"/>
          </a:p>
          <a:p>
            <a:pPr marL="203200" indent="-2032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9D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— Power BI Service, scheduled refresh, PBIP + Git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· Power Query (M) · DAX · Star schema · Cohorts · RFM · What-if · RLS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Retention &amp; Growth</dc:title>
  <dc:subject>PptxGenJS Presentation</dc:subject>
  <dc:creator>Data / BI Analyst</dc:creator>
  <cp:lastModifiedBy>Data / BI Analyst</cp:lastModifiedBy>
  <cp:revision>1</cp:revision>
  <dcterms:created xsi:type="dcterms:W3CDTF">2026-09-14T10:43:02Z</dcterms:created>
  <dcterms:modified xsi:type="dcterms:W3CDTF">2026-09-14T10:43:02Z</dcterms:modified>
</cp:coreProperties>
</file>